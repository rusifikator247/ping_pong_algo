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4" r:id="rId10"/>
    <p:sldId id="265" r:id="rId11"/>
    <p:sldId id="266" r:id="rId12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115" userDrawn="1">
          <p15:clr>
            <a:srgbClr val="9AA0A6"/>
          </p15:clr>
        </p15:guide>
        <p15:guide id="2" orient="horz" pos="110" userDrawn="1">
          <p15:clr>
            <a:srgbClr val="9AA0A6"/>
          </p15:clr>
        </p15:guide>
        <p15:guide id="3" orient="horz" pos="3133" userDrawn="1">
          <p15:clr>
            <a:srgbClr val="9AA0A6"/>
          </p15:clr>
        </p15:guide>
        <p15:guide id="4" pos="5655" userDrawn="1">
          <p15:clr>
            <a:srgbClr val="9AA0A6"/>
          </p15:clr>
        </p15:guide>
        <p15:guide id="5" pos="4672" userDrawn="1">
          <p15:clr>
            <a:srgbClr val="9AA0A6"/>
          </p15:clr>
        </p15:guide>
        <p15:guide id="6" pos="353" userDrawn="1">
          <p15:clr>
            <a:srgbClr val="9AA0A6"/>
          </p15:clr>
        </p15:guide>
        <p15:guide id="7" pos="4459" userDrawn="1">
          <p15:clr>
            <a:srgbClr val="9AA0A6"/>
          </p15:clr>
        </p15:guide>
        <p15:guide id="8" orient="horz" pos="744" userDrawn="1">
          <p15:clr>
            <a:srgbClr val="9AA0A6"/>
          </p15:clr>
        </p15:guide>
        <p15:guide id="9" orient="horz" pos="1619" userDrawn="1">
          <p15:clr>
            <a:srgbClr val="9AA0A6"/>
          </p15:clr>
        </p15:guide>
        <p15:guide id="10" orient="horz" pos="2012" userDrawn="1">
          <p15:clr>
            <a:srgbClr val="9AA0A6"/>
          </p15:clr>
        </p15:guide>
        <p15:guide id="11" orient="horz" pos="2906" userDrawn="1">
          <p15:clr>
            <a:srgbClr val="9AA0A6"/>
          </p15:clr>
        </p15:guide>
        <p15:guide id="12" pos="2098" userDrawn="1">
          <p15:clr>
            <a:srgbClr val="9AA0A6"/>
          </p15:clr>
        </p15:guide>
        <p15:guide id="13" pos="2517" userDrawn="1">
          <p15:clr>
            <a:srgbClr val="9AA0A6"/>
          </p15:clr>
        </p15:guide>
        <p15:guide id="14" pos="4311" userDrawn="1">
          <p15:clr>
            <a:srgbClr val="9AA0A6"/>
          </p15:clr>
        </p15:guide>
        <p15:guide id="15" orient="horz" pos="1016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pos="115"/>
        <p:guide orient="horz" pos="110"/>
        <p:guide orient="horz" pos="3133"/>
        <p:guide pos="5655"/>
        <p:guide pos="4672"/>
        <p:guide pos="353"/>
        <p:guide pos="4459"/>
        <p:guide orient="horz" pos="744"/>
        <p:guide orient="horz" pos="1619"/>
        <p:guide orient="horz" pos="2012"/>
        <p:guide orient="horz" pos="2906"/>
        <p:guide pos="2098"/>
        <p:guide pos="2517"/>
        <p:guide pos="4311"/>
        <p:guide orient="horz" pos="101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670dd1bee_1_0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670dd1bee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f206be851_0_163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bf206be851_0_1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f206be851_0_26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f206be851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bf206be851_0_45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bf206be851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bf206be851_0_64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bf206be851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bf206be851_0_0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bf206be85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bf206be851_0_121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bf206be851_0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bf206be851_0_140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bf206be851_0_1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2 1 1">
  <p:cSld name="CUSTOM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1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2">
  <p:cSld name="CUSTOM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2 1">
  <p:cSld name="CUSTOM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2 1 1">
  <p:cSld name="CUSTOM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775425" y="323825"/>
            <a:ext cx="3673500" cy="15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type="body" idx="1"/>
          </p:nvPr>
        </p:nvSpPr>
        <p:spPr>
          <a:xfrm>
            <a:off x="5062087" y="1988175"/>
            <a:ext cx="37701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type="body" idx="1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type="sldNum" idx="12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22"/>
          <p:cNvSpPr/>
          <p:nvPr/>
        </p:nvSpPr>
        <p:spPr>
          <a:xfrm>
            <a:off x="180000" y="193500"/>
            <a:ext cx="8784000" cy="475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22"/>
          <p:cNvSpPr txBox="1"/>
          <p:nvPr>
            <p:ph type="title"/>
          </p:nvPr>
        </p:nvSpPr>
        <p:spPr>
          <a:xfrm>
            <a:off x="622450" y="357100"/>
            <a:ext cx="61116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sz="2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type="body" idx="1"/>
          </p:nvPr>
        </p:nvSpPr>
        <p:spPr>
          <a:xfrm>
            <a:off x="634825" y="1045100"/>
            <a:ext cx="6111600" cy="24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 SemiBold"/>
              <a:buChar char="▶"/>
              <a:defRPr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▸"/>
              <a:defRPr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Char char="▹"/>
              <a:defRPr sz="10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Roboto Light"/>
              <a:buChar char="▸"/>
              <a:defRPr sz="9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Roboto Light"/>
              <a:buChar char="▹"/>
              <a:defRPr sz="8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Font typeface="Montserrat SemiBold"/>
              <a:buChar char="▸"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66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Font typeface="Roboto Light"/>
              <a:buChar char="▹"/>
              <a:defRPr sz="6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266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Font typeface="Roboto Light"/>
              <a:buChar char="▸"/>
              <a:defRPr sz="6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266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Font typeface="Roboto Light"/>
              <a:buChar char="▸"/>
              <a:defRPr sz="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3" name="Google Shape;73;p22"/>
          <p:cNvSpPr txBox="1"/>
          <p:nvPr>
            <p:ph type="sldNum" idx="12"/>
          </p:nvPr>
        </p:nvSpPr>
        <p:spPr>
          <a:xfrm>
            <a:off x="8895248" y="4944600"/>
            <a:ext cx="2487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4" name="Google Shape;74;p22"/>
          <p:cNvSpPr txBox="1"/>
          <p:nvPr/>
        </p:nvSpPr>
        <p:spPr>
          <a:xfrm>
            <a:off x="175400" y="4944600"/>
            <a:ext cx="88647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2018 © Алгоритмика</a:t>
            </a:r>
            <a:endParaRPr sz="8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type="body" idx="1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marL="274320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type="sldNum" idx="12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type="body" idx="1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marL="274320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type="sldNum" idx="12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type="body" idx="1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type="sldNum" idx="12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/>
        </p:nvSpPr>
        <p:spPr>
          <a:xfrm>
            <a:off x="360000" y="1612700"/>
            <a:ext cx="77952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tx1"/>
                </a:solidFill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Ping Pong</a:t>
            </a:r>
            <a:endParaRPr lang="en-US" altLang="en-US" sz="2400">
              <a:solidFill>
                <a:schemeClr val="tx1"/>
              </a:solidFill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112" name="Google Shape;112;p27"/>
          <p:cNvSpPr txBox="1"/>
          <p:nvPr/>
        </p:nvSpPr>
        <p:spPr>
          <a:xfrm>
            <a:off x="360000" y="2101750"/>
            <a:ext cx="8424000" cy="14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>
                <a:solidFill>
                  <a:schemeClr val="tx1"/>
                </a:solidFill>
                <a:latin typeface="Arial" panose="020B0604020202020204" pitchFamily="34" charset="0"/>
                <a:ea typeface="Montserrat ExtraBold"/>
                <a:cs typeface="Arial" panose="020B0604020202020204" pitchFamily="34" charset="0"/>
                <a:sym typeface="Montserrat ExtraBold"/>
              </a:rPr>
              <a:t>Презентация проекта</a:t>
            </a:r>
            <a:r>
              <a:rPr lang="en-GB" sz="410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lang="en-GB" sz="410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3" name="Google Shape;113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9988" y="360000"/>
            <a:ext cx="1496723" cy="31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28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19" name="Google Shape;119;p28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28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1" name="Google Shape;121;p28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Цель проекта —</a:t>
            </a:r>
            <a:endParaRPr sz="3000" b="1"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8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28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28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28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28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28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28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28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32;p2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/>
        </p:nvSpPr>
        <p:spPr>
          <a:xfrm>
            <a:off x="265775" y="881250"/>
            <a:ext cx="7118700" cy="233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заключается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создании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интерактивной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игры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где</a:t>
            </a:r>
            <a:r>
              <a:rPr lang="ru-RU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2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игрок</a:t>
            </a:r>
            <a:r>
              <a:rPr lang="ru-RU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а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управля</a:t>
            </a:r>
            <a:r>
              <a:rPr lang="ru-RU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ют рокетками отбивая при этом мяч чтобы он не вылетел за ракетки</a:t>
            </a:r>
            <a:r>
              <a:rPr lang="en-US" altLang="ru-RU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endParaRPr lang="en-US" altLang="ru-RU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Arial" panose="020B0604020202020204" pitchFamily="34" charset="0"/>
              <a:ea typeface="Montserrat SemiBold"/>
              <a:cs typeface="Arial" panose="020B0604020202020204" pitchFamily="34" charset="0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9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39" name="Google Shape;139;p29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29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1" name="Google Shape;141;p29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 b="1"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Разработанный проект включает в себя компоненты:</a:t>
            </a:r>
            <a:endParaRPr sz="2600" b="1"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142" name="Google Shape;142;p29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pic>
        <p:nvPicPr>
          <p:cNvPr id="143" name="Google Shape;143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9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29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29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29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9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29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29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29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/>
        </p:nvSpPr>
        <p:spPr>
          <a:xfrm>
            <a:off x="265430" y="1308100"/>
            <a:ext cx="5050155" cy="229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SemiBold"/>
              <a:buChar char="➔"/>
            </a:pPr>
            <a:r>
              <a:rPr lang="ru-RU" altLang="en-US" sz="2800">
                <a:latin typeface="+mn-lt"/>
                <a:ea typeface="Montserrat SemiBold"/>
                <a:cs typeface="+mn-lt"/>
                <a:sym typeface="Montserrat SemiBold"/>
              </a:rPr>
              <a:t>игроки(</a:t>
            </a:r>
            <a:r>
              <a:rPr lang="en-US" altLang="en-US" sz="2800">
                <a:latin typeface="+mn-lt"/>
                <a:ea typeface="Montserrat SemiBold"/>
                <a:cs typeface="+mn-lt"/>
                <a:sym typeface="Montserrat SemiBold"/>
              </a:rPr>
              <a:t>platform</a:t>
            </a:r>
            <a:r>
              <a:rPr lang="en-US" altLang="ru-RU" sz="2800">
                <a:latin typeface="+mn-lt"/>
                <a:ea typeface="Montserrat SemiBold"/>
                <a:cs typeface="+mn-lt"/>
                <a:sym typeface="Montserrat SemiBold"/>
              </a:rPr>
              <a:t>.png</a:t>
            </a:r>
            <a:r>
              <a:rPr lang="ru-RU" altLang="en-US" sz="2800">
                <a:latin typeface="+mn-lt"/>
                <a:ea typeface="Montserrat SemiBold"/>
                <a:cs typeface="+mn-lt"/>
                <a:sym typeface="Montserrat SemiBold"/>
              </a:rPr>
              <a:t>)</a:t>
            </a:r>
            <a:endParaRPr lang="ru-RU" altLang="en-US" sz="28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SemiBold"/>
              <a:buChar char="➔"/>
            </a:pPr>
            <a:r>
              <a:rPr lang="ru-RU" altLang="en-US" sz="2800">
                <a:latin typeface="+mn-lt"/>
                <a:ea typeface="Montserrat SemiBold"/>
                <a:cs typeface="+mn-lt"/>
                <a:sym typeface="Montserrat SemiBold"/>
              </a:rPr>
              <a:t>мячик(</a:t>
            </a:r>
            <a:r>
              <a:rPr lang="en-US" altLang="ru-RU" sz="2800">
                <a:latin typeface="+mn-lt"/>
                <a:ea typeface="Montserrat SemiBold"/>
                <a:cs typeface="+mn-lt"/>
                <a:sym typeface="Montserrat SemiBold"/>
              </a:rPr>
              <a:t>tenisping</a:t>
            </a:r>
            <a:r>
              <a:rPr lang="en-US" altLang="en-US" sz="2800">
                <a:latin typeface="+mn-lt"/>
                <a:ea typeface="Montserrat SemiBold"/>
                <a:cs typeface="+mn-lt"/>
                <a:sym typeface="Montserrat SemiBold"/>
              </a:rPr>
              <a:t>.png</a:t>
            </a:r>
            <a:r>
              <a:rPr lang="ru-RU" altLang="en-US" sz="2800">
                <a:latin typeface="+mn-lt"/>
                <a:ea typeface="Montserrat SemiBold"/>
                <a:cs typeface="+mn-lt"/>
                <a:sym typeface="Montserrat SemiBold"/>
              </a:rPr>
              <a:t>)</a:t>
            </a:r>
            <a:endParaRPr lang="ru-RU" altLang="en-US" sz="28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SemiBold"/>
              <a:buChar char="➔"/>
            </a:pPr>
            <a:endParaRPr lang="ru-RU" altLang="en-US" sz="2800">
              <a:latin typeface="+mn-lt"/>
              <a:ea typeface="Montserrat SemiBold"/>
              <a:cs typeface="+mn-lt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0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59" name="Google Shape;159;p30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30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1" name="Google Shape;161;p30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 b="1"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Отличительные особенности проекта</a:t>
            </a:r>
            <a:endParaRPr sz="2600" b="1"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30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30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30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30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30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30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30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2" name="Google Shape;172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0"/>
          <p:cNvSpPr txBox="1"/>
          <p:nvPr/>
        </p:nvSpPr>
        <p:spPr>
          <a:xfrm>
            <a:off x="276860" y="904875"/>
            <a:ext cx="7118985" cy="395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Проект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«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Пинг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-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понг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»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—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это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классическая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учебная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задача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,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которая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позволяет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освоить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базовые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принципы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программирования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и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работы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с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графикой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.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Вот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его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отличительные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особенности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:</a:t>
            </a:r>
            <a:endParaRPr lang="en-US" altLang="ru-RU" sz="24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Использование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библиотек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для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графики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. </a:t>
            </a:r>
            <a:endParaRPr lang="en-US" altLang="ru-RU" sz="24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Объектно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-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ориентированный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подход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. </a:t>
            </a:r>
            <a:endParaRPr lang="en-US" altLang="ru-RU" sz="24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Обработка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событий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и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управление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. </a:t>
            </a:r>
            <a:endParaRPr lang="en-US" altLang="ru-RU" sz="24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Логика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столкновений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и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подсчёт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очков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.  </a:t>
            </a:r>
            <a:endParaRPr lang="en-US" altLang="ru-RU" sz="24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Работа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с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циклом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 </a:t>
            </a:r>
            <a:r>
              <a:rPr lang="en-US" altLang="en-US" sz="2400">
                <a:latin typeface="+mn-lt"/>
                <a:ea typeface="Montserrat SemiBold"/>
                <a:cs typeface="+mn-lt"/>
                <a:sym typeface="Montserrat SemiBold"/>
              </a:rPr>
              <a:t>игры</a:t>
            </a:r>
            <a:r>
              <a:rPr lang="en-US" altLang="ru-RU" sz="2400">
                <a:latin typeface="+mn-lt"/>
                <a:ea typeface="Montserrat SemiBold"/>
                <a:cs typeface="+mn-lt"/>
                <a:sym typeface="Montserrat SemiBold"/>
              </a:rPr>
              <a:t>.</a:t>
            </a:r>
            <a:endParaRPr lang="en-US" altLang="ru-RU" sz="2400">
              <a:latin typeface="+mn-lt"/>
              <a:ea typeface="Montserrat SemiBold"/>
              <a:cs typeface="+mn-lt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31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79" name="Google Shape;179;p31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31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1" name="Google Shape;181;p31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 b="1">
                <a:latin typeface="+mn-lt"/>
                <a:ea typeface="Montserrat"/>
                <a:cs typeface="+mn-lt"/>
                <a:sym typeface="Montserrat"/>
              </a:rPr>
              <a:t>Отличительные особенности проекта</a:t>
            </a:r>
            <a:endParaRPr sz="2600" b="1">
              <a:latin typeface="+mn-lt"/>
              <a:ea typeface="Montserrat"/>
              <a:cs typeface="+mn-lt"/>
              <a:sym typeface="Montserrat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31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31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31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31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31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31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31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2" name="Google Shape;192;p3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/>
        </p:nvSpPr>
        <p:spPr>
          <a:xfrm>
            <a:off x="277050" y="823100"/>
            <a:ext cx="7118700" cy="147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+mn-lt"/>
                <a:ea typeface="Montserrat SemiBold"/>
                <a:cs typeface="+mn-lt"/>
                <a:sym typeface="Montserrat SemiBold"/>
              </a:rPr>
              <a:t>В игре есть </a:t>
            </a:r>
            <a:r>
              <a:rPr lang="ru-RU" altLang="en-GB" sz="2800">
                <a:latin typeface="+mn-lt"/>
                <a:ea typeface="Montserrat SemiBold"/>
                <a:cs typeface="+mn-lt"/>
                <a:sym typeface="Montserrat SemiBold"/>
              </a:rPr>
              <a:t>2 типа персонажей</a:t>
            </a:r>
            <a:r>
              <a:rPr lang="en-US" altLang="en-GB" sz="2800">
                <a:latin typeface="+mn-lt"/>
                <a:ea typeface="Montserrat SemiBold"/>
                <a:cs typeface="+mn-lt"/>
                <a:sym typeface="Montserrat SemiBold"/>
              </a:rPr>
              <a:t>:</a:t>
            </a:r>
            <a:endParaRPr lang="en-US" altLang="en-GB" sz="28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800">
                <a:latin typeface="+mn-lt"/>
                <a:ea typeface="Montserrat SemiBold"/>
                <a:cs typeface="+mn-lt"/>
                <a:sym typeface="Montserrat SemiBold"/>
              </a:rPr>
              <a:t>1. </a:t>
            </a:r>
            <a:r>
              <a:rPr lang="ru-RU" altLang="en-GB" sz="2800">
                <a:latin typeface="+mn-lt"/>
                <a:ea typeface="Montserrat SemiBold"/>
                <a:cs typeface="+mn-lt"/>
                <a:sym typeface="Montserrat SemiBold"/>
              </a:rPr>
              <a:t>игроки(ракетки)</a:t>
            </a:r>
            <a:endParaRPr lang="ru-RU" altLang="en-GB" sz="2800">
              <a:latin typeface="+mn-lt"/>
              <a:ea typeface="Montserrat SemiBold"/>
              <a:cs typeface="+mn-lt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 sz="2800">
                <a:latin typeface="+mn-lt"/>
                <a:ea typeface="Montserrat SemiBold"/>
                <a:cs typeface="+mn-lt"/>
                <a:sym typeface="Montserrat SemiBold"/>
              </a:rPr>
              <a:t>2</a:t>
            </a:r>
            <a:r>
              <a:rPr lang="en-US" altLang="ru-RU" sz="2800">
                <a:latin typeface="+mn-lt"/>
                <a:ea typeface="Montserrat SemiBold"/>
                <a:cs typeface="+mn-lt"/>
                <a:sym typeface="Montserrat SemiBold"/>
              </a:rPr>
              <a:t>.</a:t>
            </a:r>
            <a:r>
              <a:rPr lang="ru-RU" altLang="en-US" sz="2800">
                <a:latin typeface="+mn-lt"/>
                <a:ea typeface="Montserrat SemiBold"/>
                <a:cs typeface="+mn-lt"/>
                <a:sym typeface="Montserrat SemiBold"/>
              </a:rPr>
              <a:t> мячик</a:t>
            </a:r>
            <a:endParaRPr lang="ru-RU" altLang="en-US" sz="2800">
              <a:latin typeface="+mn-lt"/>
              <a:ea typeface="Montserrat SemiBold"/>
              <a:cs typeface="+mn-lt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34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239" name="Google Shape;239;p34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41" name="Google Shape;241;p3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8605" y="1585777"/>
            <a:ext cx="5959302" cy="319438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 txBox="1"/>
          <p:nvPr/>
        </p:nvSpPr>
        <p:spPr>
          <a:xfrm>
            <a:off x="1732953" y="1946293"/>
            <a:ext cx="3190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800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 b="1"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Демонстрация проекта</a:t>
            </a:r>
            <a:endParaRPr lang="en-GB" sz="3000" b="1"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p3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4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p34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34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34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34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34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34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34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6" name="Google Shape;256;p3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/>
        </p:nvSpPr>
        <p:spPr>
          <a:xfrm>
            <a:off x="703670" y="923500"/>
            <a:ext cx="5895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 b="1">
                <a:solidFill>
                  <a:schemeClr val="accent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«Pygame: Шутер»</a:t>
            </a:r>
            <a:endParaRPr sz="2400" b="1">
              <a:solidFill>
                <a:schemeClr val="accent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0" y="1004765"/>
            <a:ext cx="626100" cy="4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55" y="1740535"/>
            <a:ext cx="4612005" cy="2737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35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265" name="Google Shape;265;p35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35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7" name="Google Shape;267;p35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 b="1"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Перспективы проекта</a:t>
            </a:r>
            <a:endParaRPr sz="2600" b="1"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9" name="Google Shape;269;p3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p35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2" name="Google Shape;272;p35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35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35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35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35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35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8" name="Google Shape;278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5"/>
          <p:cNvSpPr txBox="1"/>
          <p:nvPr/>
        </p:nvSpPr>
        <p:spPr>
          <a:xfrm>
            <a:off x="277050" y="823100"/>
            <a:ext cx="7438200" cy="67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Arial" panose="020B0604020202020204" pitchFamily="34" charset="0"/>
                <a:ea typeface="Montserrat SemiBold"/>
                <a:cs typeface="Arial" panose="020B0604020202020204" pitchFamily="34" charset="0"/>
                <a:sym typeface="Montserrat SemiBold"/>
              </a:rPr>
              <a:t>Эта игра вряд-ли принесёт прибыль так как таких игр уже тысячи и из-за этого никто не будет ей интересоваться.</a:t>
            </a:r>
            <a:endParaRPr lang="ru-RU" sz="1600">
              <a:latin typeface="Arial" panose="020B0604020202020204" pitchFamily="34" charset="0"/>
              <a:ea typeface="Montserrat SemiBold"/>
              <a:cs typeface="Arial" panose="020B0604020202020204" pitchFamily="34" charset="0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285" name="Google Shape;285;p36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name="adj" fmla="val 80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36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7" name="Google Shape;287;p36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 b="1">
                <a:latin typeface="Arial Black" panose="020B0A04020102020204" charset="0"/>
                <a:ea typeface="Montserrat"/>
                <a:cs typeface="Arial Black" panose="020B0A04020102020204" charset="0"/>
                <a:sym typeface="Montserrat"/>
              </a:rPr>
              <a:t>Благодарим за внимание</a:t>
            </a:r>
            <a:endParaRPr sz="2600" b="1">
              <a:latin typeface="Arial Black" panose="020B0A04020102020204" charset="0"/>
              <a:ea typeface="Montserrat"/>
              <a:cs typeface="Arial Black" panose="020B0A04020102020204" charset="0"/>
              <a:sym typeface="Montserrat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9" name="Google Shape;289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36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36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36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4" name="Google Shape;294;p36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36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36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7" name="Google Shape;297;p36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98" name="Google Shape;298;p3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6"/>
          <p:cNvSpPr txBox="1"/>
          <p:nvPr/>
        </p:nvSpPr>
        <p:spPr>
          <a:xfrm>
            <a:off x="277050" y="823100"/>
            <a:ext cx="7438200" cy="42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Arial" panose="020B0604020202020204" pitchFamily="34" charset="0"/>
                <a:ea typeface="Montserrat SemiBold"/>
                <a:cs typeface="Arial" panose="020B0604020202020204" pitchFamily="34" charset="0"/>
                <a:sym typeface="Montserrat SemiBold"/>
              </a:rPr>
              <a:t>Будем рады ответить на ваши вопросы и получить обратную связь</a:t>
            </a:r>
            <a:endParaRPr sz="1600">
              <a:latin typeface="Arial" panose="020B0604020202020204" pitchFamily="34" charset="0"/>
              <a:ea typeface="Montserrat SemiBold"/>
              <a:cs typeface="Arial" panose="020B0604020202020204" pitchFamily="34" charset="0"/>
              <a:sym typeface="Montserrat SemiBold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3340735" y="4838700"/>
            <a:ext cx="4474210" cy="231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https://github.com/rusifikator247/ping_pong_ALGO.git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395220"/>
            <a:ext cx="3466465" cy="244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lgoritmika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WPS Presentation</Application>
  <PresentationFormat/>
  <Paragraphs>65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SimSun</vt:lpstr>
      <vt:lpstr>Wingdings</vt:lpstr>
      <vt:lpstr>Arial</vt:lpstr>
      <vt:lpstr>Open Sans</vt:lpstr>
      <vt:lpstr>Montserrat SemiBold</vt:lpstr>
      <vt:lpstr>Segoe Print</vt:lpstr>
      <vt:lpstr>Roboto</vt:lpstr>
      <vt:lpstr>Times New Roman</vt:lpstr>
      <vt:lpstr>Roboto Light</vt:lpstr>
      <vt:lpstr>Arial Black</vt:lpstr>
      <vt:lpstr>Montserrat</vt:lpstr>
      <vt:lpstr>Montserrat ExtraBold</vt:lpstr>
      <vt:lpstr>Montserrat Black</vt:lpstr>
      <vt:lpstr>Microsoft YaHei</vt:lpstr>
      <vt:lpstr>Arial Unicode MS</vt:lpstr>
      <vt:lpstr>Simple Light</vt:lpstr>
      <vt:lpstr>algoritmika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Algo-04</cp:lastModifiedBy>
  <cp:revision>4</cp:revision>
  <dcterms:created xsi:type="dcterms:W3CDTF">2026-04-19T12:48:00Z</dcterms:created>
  <dcterms:modified xsi:type="dcterms:W3CDTF">2026-05-24T12:41:39Z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2E662DF42CEF4527820C82EC96D12C7D_13</vt:lpwstr>
  </property>
  <property fmtid="{D5CDD505-2E9C-101B-9397-08002B2CF9AE}" pid="3" name="KSOProductBuildVer">
    <vt:lpwstr>1049-12.2.0.23196</vt:lpwstr>
  </property>
</Properties>
</file>